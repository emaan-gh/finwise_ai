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ource Sans 3 Black"/>
      <p:regular r:id="rId201317"/>
    </p:embeddedFont>
    <p:embeddedFont>
      <p:font typeface="Source Serif 4"/>
      <p:regular r:id="rId201318"/>
    </p:embeddedFont>
    <p:embeddedFont>
      <p:font typeface="Source Serif 4 SemiBold"/>
      <p:regular r:id="rId201319"/>
    </p:embeddedFont>
    <p:embeddedFont>
      <p:font typeface="Source Serif 4 Bold"/>
      <p:regular r:id="rId201320"/>
    </p:embeddedFont>
    <p:embeddedFont>
      <p:font typeface="Source Serif 4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2.png"/><Relationship Id="rId11" Type="http://schemas.openxmlformats.org/officeDocument/2006/relationships/image" Target="../media/image-5-3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2.png"/><Relationship Id="rId15" Type="http://schemas.openxmlformats.org/officeDocument/2006/relationships/image" Target="../media/image-5-3.svg"/><Relationship Id="rId16" Type="http://schemas.openxmlformats.org/officeDocument/2006/relationships/image" Target="../media/image-5-16.png"/><Relationship Id="rId17" Type="http://schemas.openxmlformats.org/officeDocument/2006/relationships/image" Target="../media/image-5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6.png"/><Relationship Id="rId9" Type="http://schemas.openxmlformats.org/officeDocument/2006/relationships/image" Target="../media/image-7-7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6.png"/><Relationship Id="rId9" Type="http://schemas.openxmlformats.org/officeDocument/2006/relationships/image" Target="../media/image-8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41677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00" spc="-6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FinWise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3191768"/>
            <a:ext cx="10795524" cy="708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450" spc="-89" kern="0" dirty="0">
                <a:solidFill>
                  <a:srgbClr val="D75BE2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AI-Powered Personal Financial Analysis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393293" y="4161929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Building Intelligent FinTech Solutions with LangChain + Streamlit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90550"/>
            <a:ext cx="1765454" cy="265113"/>
          </a:xfrm>
          <a:prstGeom prst="roundRect">
            <a:avLst>
              <a:gd name="adj" fmla="val 22121"/>
            </a:avLst>
          </a:prstGeom>
          <a:solidFill>
            <a:srgbClr val="F4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759" y="653256"/>
            <a:ext cx="139597" cy="139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2105" y="642838"/>
            <a:ext cx="1956346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ASSIGNMENT OVERVIEW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92541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spc="-6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What is FinWise AI?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72379" y="1700411"/>
            <a:ext cx="5997326" cy="4567039"/>
          </a:xfrm>
          <a:prstGeom prst="roundRect">
            <a:avLst>
              <a:gd name="adj" fmla="val 2752"/>
            </a:avLst>
          </a:prstGeom>
          <a:solidFill>
            <a:srgbClr val="D75BE2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46900" y="1874937"/>
            <a:ext cx="564828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Core Goal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6900" y="2306141"/>
            <a:ext cx="5648283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 personalized financial insights through intelligent AI analysis. Users input their income and expenses, Python calculates key financial metrics, and an LLM generates actionable, personalized recommendations — all rendered in an interactive Streamlit dashboard.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6900" y="3597473"/>
            <a:ext cx="564828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6900" y="4028678"/>
            <a:ext cx="5648283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input income &amp; expenses → Python calculates metrics → AI generates recommendations → Dashboard displays insights in real time.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76183" y="1874937"/>
            <a:ext cx="462377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Project At a Glance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76183" y="2327970"/>
            <a:ext cx="2224627" cy="2191841"/>
          </a:xfrm>
          <a:prstGeom prst="roundRect">
            <a:avLst>
              <a:gd name="adj" fmla="val 334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AB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69754" y="2521545"/>
            <a:ext cx="1837485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Smart Budget Assistant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69754" y="3209429"/>
            <a:ext cx="1837485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Powered by AI and LangChain, providing real-time, context-aware financial analysis.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275332" y="2327970"/>
            <a:ext cx="2224627" cy="2191841"/>
          </a:xfrm>
          <a:prstGeom prst="roundRect">
            <a:avLst>
              <a:gd name="adj" fmla="val 334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ABA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68903" y="2521545"/>
            <a:ext cx="1837485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Personalized Insights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468903" y="3209429"/>
            <a:ext cx="1837485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generic advice — tailored analysis based on each user's exact financial situation.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876183" y="4694337"/>
            <a:ext cx="4623776" cy="1376759"/>
          </a:xfrm>
          <a:prstGeom prst="roundRect">
            <a:avLst>
              <a:gd name="adj" fmla="val 532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ABA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69754" y="4887913"/>
            <a:ext cx="423663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Full-Stack Build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69754" y="5319117"/>
            <a:ext cx="423663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backend with a polished Streamlit frontend delivering an end-to-end FinTech product.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95995"/>
            <a:ext cx="1557199" cy="248444"/>
          </a:xfrm>
          <a:prstGeom prst="roundRect">
            <a:avLst>
              <a:gd name="adj" fmla="val 22130"/>
            </a:avLst>
          </a:prstGeom>
          <a:solidFill>
            <a:srgbClr val="F4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11" y="554732"/>
            <a:ext cx="130866" cy="1308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460" y="545009"/>
            <a:ext cx="1774285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98086" y="805755"/>
            <a:ext cx="10795524" cy="48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spc="-61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98086" y="1670546"/>
            <a:ext cx="5198139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Challenges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083693"/>
            <a:ext cx="5198139" cy="12663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941" y="2266355"/>
            <a:ext cx="4756626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The Challenge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56941" y="2660352"/>
            <a:ext cx="4756626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people have no clear picture of their spending patterns. Without visibility, financial habits go uncorrected and savings stagnate.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503414"/>
            <a:ext cx="5198139" cy="12663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941" y="3686076"/>
            <a:ext cx="4756626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The Gap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56941" y="4080073"/>
            <a:ext cx="4756626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Generic financial advice found online fails to account for individual income levels, lifestyles, and goals — it's one-size-fits-none.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4923135"/>
            <a:ext cx="5198139" cy="12663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941" y="5105797"/>
            <a:ext cx="4756626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The Need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56941" y="5499795"/>
            <a:ext cx="4756626" cy="5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There is a clear demand for personalized, AI-driven financial guidance that adapts to each user's unique financial reality.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183952" y="1517154"/>
            <a:ext cx="5433877" cy="4844852"/>
          </a:xfrm>
          <a:prstGeom prst="roundRect">
            <a:avLst>
              <a:gd name="adj" fmla="val 2432"/>
            </a:avLst>
          </a:prstGeom>
          <a:solidFill>
            <a:srgbClr val="D75BE2">
              <a:alpha val="95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347559" y="1670546"/>
            <a:ext cx="5106661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Our Solution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347559" y="2064544"/>
            <a:ext cx="5106661" cy="126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FinWise AI delivers </a:t>
            </a:r>
            <a:pPr algn="l" indent="0" marL="0">
              <a:lnSpc>
                <a:spcPct val="129000"/>
              </a:lnSpc>
              <a:buNone/>
            </a:pPr>
            <a:r>
              <a:rPr lang="en-US" sz="1250" b="1" spc="-26" kern="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real-time, personalized budget analysis</a:t>
            </a:r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powered by intelligent LLM insights. Instead of static advice, the system dynamically processes each user's actual financial data and returns structured, actionable recommendations — making expert-level financial guidance accessible to everyone.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347559" y="3545483"/>
            <a:ext cx="5106661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6347559" y="3777952"/>
            <a:ext cx="5106661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347559" y="4171950"/>
            <a:ext cx="5106661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Financial illiteracy is a widespread problem. An AI assistant that translates raw numbers into clear, prioritized action steps can meaningfully improve financial well-being at scale.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36178"/>
            <a:ext cx="1621491" cy="252809"/>
          </a:xfrm>
          <a:prstGeom prst="roundRect">
            <a:avLst>
              <a:gd name="adj" fmla="val 22111"/>
            </a:avLst>
          </a:prstGeom>
          <a:solidFill>
            <a:srgbClr val="F4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897" y="596007"/>
            <a:ext cx="133049" cy="133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7421" y="586085"/>
            <a:ext cx="1831929" cy="152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98086" y="852388"/>
            <a:ext cx="10795524" cy="48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spc="-62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What You'll Master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698086" y="1579463"/>
            <a:ext cx="10795524" cy="5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assignment is designed to build real, industry-relevant skills across the full AI-powered application development lifecycle. Each module targets a distinct competency.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277666"/>
            <a:ext cx="415815" cy="4158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8086" y="2891631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LLM Integration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98086" y="3231356"/>
            <a:ext cx="3466418" cy="1039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 to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ChatOpenAI</a:t>
            </a:r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manage the full message lifecycle — System, Human, and AI message types — to build coherent, context-aware conversations.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2639" y="2277666"/>
            <a:ext cx="415815" cy="4158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62639" y="2891631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362639" y="3231356"/>
            <a:ext cx="346641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precise, reusable prompts using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PromptTemplate</a:t>
            </a:r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ChatPromptTemplate</a:t>
            </a:r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extract structured, reliable output from the LLM.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27191" y="2277666"/>
            <a:ext cx="415815" cy="4158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7191" y="2891631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Processing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8027191" y="3231356"/>
            <a:ext cx="346641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structured JSON output</a:t>
            </a:r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safe parsing and validation — ensuring the application remains robust even with variable LLM responses.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086" y="4588272"/>
            <a:ext cx="415815" cy="4158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8086" y="5202238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Advanced Features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698086" y="5541963"/>
            <a:ext cx="346641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streaming responses</a:t>
            </a:r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live typing effects and intelligent caching strategies to optimize API usage and user experience.</a:t>
            </a:r>
            <a:endParaRPr lang="en-US" sz="13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62639" y="4588272"/>
            <a:ext cx="415815" cy="41582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362639" y="5202238"/>
            <a:ext cx="346641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Full-Stack Development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4362639" y="5541963"/>
            <a:ext cx="346641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complete product with a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Python backend</a:t>
            </a:r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a polished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Streamlit frontend</a:t>
            </a:r>
            <a:pPr algn="l" indent="0" marL="0">
              <a:lnSpc>
                <a:spcPct val="130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dashboard — from raw calculations to interactive UI.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83989"/>
            <a:ext cx="1102094" cy="244376"/>
          </a:xfrm>
          <a:prstGeom prst="roundRect">
            <a:avLst>
              <a:gd name="adj" fmla="val 22124"/>
            </a:avLst>
          </a:prstGeom>
          <a:solidFill>
            <a:srgbClr val="F4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23" y="541834"/>
            <a:ext cx="128683" cy="1286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99" y="532209"/>
            <a:ext cx="1325629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98086" y="787698"/>
            <a:ext cx="10795524" cy="47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60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Tech Stack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82201" y="1483420"/>
            <a:ext cx="4314419" cy="4890591"/>
          </a:xfrm>
          <a:prstGeom prst="roundRect">
            <a:avLst>
              <a:gd name="adj" fmla="val 2685"/>
            </a:avLst>
          </a:prstGeom>
          <a:solidFill>
            <a:srgbClr val="D75BE2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43031" y="1631752"/>
            <a:ext cx="3992760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Why This Stack?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3031" y="2016720"/>
            <a:ext cx="3992760" cy="989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spc="-25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technology in the FinWise AI stack was selected for a precise purpose — combining a production-grade AI framework, a leading LLM, a rapid-development UI layer, and enterprise-ready caching and security practices.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3031" y="3213100"/>
            <a:ext cx="3992760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43031" y="3439120"/>
            <a:ext cx="3992760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Guiding Principle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43031" y="3824089"/>
            <a:ext cx="3992760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spc="-25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something real. This is not a toy project — the stack mirrors what professional FinTech AI engineers use in production environments.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9585" y="1650206"/>
            <a:ext cx="3085924" cy="2204343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1850" y="1786731"/>
            <a:ext cx="241294" cy="241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59464" y="2300288"/>
            <a:ext cx="272616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359464" y="2685256"/>
            <a:ext cx="2726165" cy="989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Python 3.10+</a:t>
            </a:r>
            <a:pPr algn="l" indent="0" marL="0">
              <a:lnSpc>
                <a:spcPct val="128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the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LangChain Framework</a:t>
            </a:r>
            <a:pPr algn="l" indent="0" marL="0">
              <a:lnSpc>
                <a:spcPct val="128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orchestrating LLM pipelines, chains, and prompt management.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3837" y="1650206"/>
            <a:ext cx="3086023" cy="2204343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36202" y="1786731"/>
            <a:ext cx="241294" cy="241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93716" y="2300288"/>
            <a:ext cx="272626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 Model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8593716" y="2685256"/>
            <a:ext cx="2726265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OpenAI GPT-4o-mini</a:t>
            </a:r>
            <a:pPr algn="l" indent="0" marL="0">
              <a:lnSpc>
                <a:spcPct val="128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via ChatOpenAI — balancing intelligence, speed, and cost-efficiency for real-time financial analysis.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79585" y="4002881"/>
            <a:ext cx="3085924" cy="2204343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1850" y="4139406"/>
            <a:ext cx="241294" cy="2413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59464" y="4652963"/>
            <a:ext cx="272616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23" name="Text 14"/>
          <p:cNvSpPr/>
          <p:nvPr/>
        </p:nvSpPr>
        <p:spPr>
          <a:xfrm>
            <a:off x="5359464" y="5037931"/>
            <a:ext cx="2726165" cy="989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Streamlit</a:t>
            </a:r>
            <a:pPr algn="l" indent="0" marL="0">
              <a:lnSpc>
                <a:spcPct val="128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 Python-native framework for building interactive, data-rich dashboards without requiring JavaScript expertise.</a:t>
            </a:r>
            <a:endParaRPr lang="en-US" sz="12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13837" y="4002881"/>
            <a:ext cx="3086023" cy="2204343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836202" y="4139406"/>
            <a:ext cx="241294" cy="2413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593716" y="4652963"/>
            <a:ext cx="272626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Performance &amp; Security</a:t>
            </a:r>
            <a:endParaRPr lang="en-US" sz="1450" dirty="0"/>
          </a:p>
        </p:txBody>
      </p:sp>
      <p:sp>
        <p:nvSpPr>
          <p:cNvPr id="27" name="Text 16"/>
          <p:cNvSpPr/>
          <p:nvPr/>
        </p:nvSpPr>
        <p:spPr>
          <a:xfrm>
            <a:off x="8593716" y="5037931"/>
            <a:ext cx="2726265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InMemoryCache</a:t>
            </a:r>
            <a:pPr algn="l" indent="0" marL="0">
              <a:lnSpc>
                <a:spcPct val="128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speed +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SQLiteCache</a:t>
            </a:r>
            <a:pPr algn="l" indent="0" marL="0">
              <a:lnSpc>
                <a:spcPct val="128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persistence.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python-dotenv</a:t>
            </a:r>
            <a:pPr algn="l" indent="0" marL="0">
              <a:lnSpc>
                <a:spcPct val="128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secure API key management.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86172"/>
            <a:ext cx="1087212" cy="248444"/>
          </a:xfrm>
          <a:prstGeom prst="roundRect">
            <a:avLst>
              <a:gd name="adj" fmla="val 22130"/>
            </a:avLst>
          </a:prstGeom>
          <a:solidFill>
            <a:srgbClr val="F4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11" y="544909"/>
            <a:ext cx="130866" cy="1308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460" y="535186"/>
            <a:ext cx="1304297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SET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98086" y="795933"/>
            <a:ext cx="10795524" cy="48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spc="-61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Core Features to Build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98086" y="1507331"/>
            <a:ext cx="11405108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FinWise AI is built from seven distinct modules, each contributing to a cohesive, production-quality application. Every module is independently testable and scored.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98086" y="1933377"/>
            <a:ext cx="368092" cy="368102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6644" y="1973064"/>
            <a:ext cx="230975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-36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19566" y="1989534"/>
            <a:ext cx="10274043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Input Module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19566" y="2322116"/>
            <a:ext cx="10274043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 monthly income, </a:t>
            </a:r>
            <a:pPr algn="l" indent="0" marL="0">
              <a:lnSpc>
                <a:spcPct val="129000"/>
              </a:lnSpc>
              <a:buNone/>
            </a:pPr>
            <a:r>
              <a:rPr lang="en-US" sz="125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 categorized expense fields</a:t>
            </a:r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savings amount, and financial goals through a structured, user-friendly form.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8086" y="2882404"/>
            <a:ext cx="368092" cy="368102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6644" y="2922091"/>
            <a:ext cx="230975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-36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19566" y="2938562"/>
            <a:ext cx="10274043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Calculation Engine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19566" y="3271143"/>
            <a:ext cx="10274043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Deterministically compute total expenses, remaining income, savings ratio, expense ratio, and the composite </a:t>
            </a:r>
            <a:pPr algn="l" indent="0" marL="0">
              <a:lnSpc>
                <a:spcPct val="129000"/>
              </a:lnSpc>
              <a:buNone/>
            </a:pPr>
            <a:r>
              <a:rPr lang="en-US" sz="125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financial health score (0–100)</a:t>
            </a:r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8086" y="3831431"/>
            <a:ext cx="368092" cy="368102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6644" y="3871119"/>
            <a:ext cx="230975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-36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9566" y="3887589"/>
            <a:ext cx="10274043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 Analysis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19566" y="4220170"/>
            <a:ext cx="10274043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 calculated data to the LLM via </a:t>
            </a:r>
            <a:pPr algn="l" indent="0" marL="0">
              <a:lnSpc>
                <a:spcPct val="129000"/>
              </a:lnSpc>
              <a:buNone/>
            </a:pPr>
            <a:r>
              <a:rPr lang="en-US" sz="125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LLMChain</a:t>
            </a:r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Receive structured JSON insights including risk levels, priorities, and recommendations.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98086" y="4780459"/>
            <a:ext cx="368092" cy="368102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6644" y="4820146"/>
            <a:ext cx="230975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-36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19566" y="4836616"/>
            <a:ext cx="10274043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Smart Dashboard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19566" y="5169198"/>
            <a:ext cx="10274043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 health score, risk level, priority actions, and a personalized next-month action plan in a clean, scannable interface.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98086" y="5729486"/>
            <a:ext cx="368092" cy="368102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6644" y="5769173"/>
            <a:ext cx="230975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-36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19566" y="5785644"/>
            <a:ext cx="10274043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0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Streaming UI + Caching + Safety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219566" y="6118225"/>
            <a:ext cx="10274043" cy="25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recommendations with live typing via </a:t>
            </a:r>
            <a:pPr algn="l" indent="0" marL="0">
              <a:lnSpc>
                <a:spcPct val="129000"/>
              </a:lnSpc>
              <a:buNone/>
            </a:pPr>
            <a:r>
              <a:rPr lang="en-US" sz="125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.stream()</a:t>
            </a:r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Dual caching (in-memory + SQLite) with session reset. </a:t>
            </a:r>
            <a:pPr algn="l" indent="0" marL="0">
              <a:lnSpc>
                <a:spcPct val="129000"/>
              </a:lnSpc>
              <a:buNone/>
            </a:pPr>
            <a:r>
              <a:rPr lang="en-US" sz="1250" b="1" spc="-26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Educational disclaimers</a:t>
            </a:r>
            <a:pPr algn="l" indent="0" marL="0">
              <a:lnSpc>
                <a:spcPct val="129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 every screen.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90550"/>
            <a:ext cx="1306877" cy="265113"/>
          </a:xfrm>
          <a:prstGeom prst="roundRect">
            <a:avLst>
              <a:gd name="adj" fmla="val 22121"/>
            </a:avLst>
          </a:prstGeom>
          <a:solidFill>
            <a:srgbClr val="F4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759" y="653256"/>
            <a:ext cx="139597" cy="139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2105" y="642838"/>
            <a:ext cx="1497769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DESIGN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92541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spc="-65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98086" y="1874937"/>
            <a:ext cx="4960417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Python Calculations — Deterministic Layer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036" y="2308920"/>
            <a:ext cx="2390120" cy="10531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0706" y="2327970"/>
            <a:ext cx="215845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Total Expenses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0706" y="2759174"/>
            <a:ext cx="2158450" cy="58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Expenses = Σ (all 10 expense categories)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8283" y="2308920"/>
            <a:ext cx="2390219" cy="10531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99953" y="2327970"/>
            <a:ext cx="215854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Remaining Income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499953" y="2759174"/>
            <a:ext cx="2158549" cy="58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 = Monthly Income − Total Expenses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036" y="3672979"/>
            <a:ext cx="2390120" cy="13450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0706" y="3692029"/>
            <a:ext cx="215845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Savings Ratio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910706" y="4123234"/>
            <a:ext cx="2158450" cy="58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Savings Ratio = (Savings ÷ Monthly Income) × 100%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68283" y="3672979"/>
            <a:ext cx="2390219" cy="134500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99953" y="3692029"/>
            <a:ext cx="215854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Expense Ratio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3499953" y="4123234"/>
            <a:ext cx="2158549" cy="875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Expense Ratio = (Total Expenses ÷ Monthly Income) × 100%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9036" y="5328940"/>
            <a:ext cx="4979466" cy="76120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10706" y="5347990"/>
            <a:ext cx="474779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Health Score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910706" y="5779195"/>
            <a:ext cx="4747796" cy="29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Health Score = Weighted heuristic function (0–100)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5964981" y="1700411"/>
            <a:ext cx="5660685" cy="4567039"/>
          </a:xfrm>
          <a:prstGeom prst="roundRect">
            <a:avLst>
              <a:gd name="adj" fmla="val 2752"/>
            </a:avLst>
          </a:prstGeom>
          <a:solidFill>
            <a:srgbClr val="D75BE2">
              <a:alpha val="95000"/>
            </a:srgbClr>
          </a:solidFill>
          <a:ln/>
        </p:spPr>
      </p:sp>
      <p:sp>
        <p:nvSpPr>
          <p:cNvPr id="23" name="Text 15"/>
          <p:cNvSpPr/>
          <p:nvPr/>
        </p:nvSpPr>
        <p:spPr>
          <a:xfrm>
            <a:off x="6139503" y="1874937"/>
            <a:ext cx="531164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LangChain Pipeline — AI Layer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6139503" y="2306141"/>
            <a:ext cx="5311642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spc="-27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AI pipeline chains multiple components in a sequential flow, converting raw financial data into structured LLM-generated insights:</a:t>
            </a:r>
            <a:endParaRPr lang="en-US" sz="13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9503" y="3060898"/>
            <a:ext cx="5311642" cy="229056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96917" y="4921521"/>
            <a:ext cx="1134071" cy="141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LLMChain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6496917" y="4391292"/>
            <a:ext cx="1134071" cy="141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ChatPromptTemplate</a:t>
            </a:r>
            <a:endParaRPr lang="en-US" sz="850" dirty="0"/>
          </a:p>
        </p:txBody>
      </p:sp>
      <p:sp>
        <p:nvSpPr>
          <p:cNvPr id="28" name="Text 19"/>
          <p:cNvSpPr/>
          <p:nvPr/>
        </p:nvSpPr>
        <p:spPr>
          <a:xfrm>
            <a:off x="6496917" y="3866420"/>
            <a:ext cx="1134071" cy="141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PromptTemplate</a:t>
            </a:r>
            <a:endParaRPr lang="en-US" sz="850" dirty="0"/>
          </a:p>
        </p:txBody>
      </p:sp>
      <p:sp>
        <p:nvSpPr>
          <p:cNvPr id="29" name="Text 20"/>
          <p:cNvSpPr/>
          <p:nvPr/>
        </p:nvSpPr>
        <p:spPr>
          <a:xfrm>
            <a:off x="6496917" y="3336191"/>
            <a:ext cx="1134071" cy="141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ChatOpenAI</a:t>
            </a:r>
            <a:endParaRPr lang="en-US" sz="850" dirty="0"/>
          </a:p>
        </p:txBody>
      </p:sp>
      <p:sp>
        <p:nvSpPr>
          <p:cNvPr id="30" name="Text 21"/>
          <p:cNvSpPr/>
          <p:nvPr/>
        </p:nvSpPr>
        <p:spPr>
          <a:xfrm>
            <a:off x="6139503" y="5547816"/>
            <a:ext cx="5311642" cy="446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-27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step is a discrete, testable component. The final output is a validated JSON object consumed by the Streamlit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31813"/>
            <a:ext cx="900487" cy="231874"/>
          </a:xfrm>
          <a:prstGeom prst="roundRect">
            <a:avLst>
              <a:gd name="adj" fmla="val 22131"/>
            </a:avLst>
          </a:prstGeom>
          <a:solidFill>
            <a:srgbClr val="F4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662" y="586680"/>
            <a:ext cx="122135" cy="1221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2816" y="577552"/>
            <a:ext cx="1143765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OUTPUT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98086" y="817066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spc="-57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 Output &amp; Performance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98086" y="1600200"/>
            <a:ext cx="521153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JSON Response 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8086" y="1958280"/>
            <a:ext cx="5211533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LLM returns a fully structured JSON object covering eight distinct financial insight dimensions: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8086" y="2566591"/>
            <a:ext cx="2538944" cy="1134170"/>
          </a:xfrm>
          <a:prstGeom prst="roundRect">
            <a:avLst>
              <a:gd name="adj" fmla="val 5656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7129" y="2725638"/>
            <a:ext cx="222085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Financial Summary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7129" y="3083719"/>
            <a:ext cx="2220857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Health Score + Spending Analysis overview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70575" y="2566591"/>
            <a:ext cx="2539044" cy="1134170"/>
          </a:xfrm>
          <a:prstGeom prst="roundRect">
            <a:avLst>
              <a:gd name="adj" fmla="val 5656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9619" y="2725638"/>
            <a:ext cx="222095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Risk Assessment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29619" y="3083719"/>
            <a:ext cx="2220956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 Level + Top Priorities ranked by urgency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8086" y="3834309"/>
            <a:ext cx="5211533" cy="905173"/>
          </a:xfrm>
          <a:prstGeom prst="roundRect">
            <a:avLst>
              <a:gd name="adj" fmla="val 7086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7129" y="3993356"/>
            <a:ext cx="489344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Action Plan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7129" y="4351437"/>
            <a:ext cx="4893446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Budget Recommendations + Savings Strategy + Next Month Steps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8086" y="4927898"/>
            <a:ext cx="5211533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98086" y="5135364"/>
            <a:ext cx="521153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Real-Time Streaming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8086" y="5493445"/>
            <a:ext cx="5211533" cy="7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typing effect implemented using LangChain's 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.stream()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method paired with Streamlit's 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st.write_stream()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delivering a dynamic, engaging user experience as insights are generated token by token.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88426" y="1600200"/>
            <a:ext cx="521153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Health Score Interpretation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288426" y="1958280"/>
            <a:ext cx="5211533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composite health score (0–100) is the primary KPI of every analysis session. Scores map to four distinct risk tiers: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8426" y="2566591"/>
            <a:ext cx="2538944" cy="184209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536368" y="2738338"/>
            <a:ext cx="2119259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80–100 — Strong Financial Health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36368" y="3320951"/>
            <a:ext cx="2119259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Excellent savings ratio, controlled expenses. User is on track and requires only minor optimization.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0916" y="2566591"/>
            <a:ext cx="2539044" cy="184209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208857" y="2738338"/>
            <a:ext cx="2119359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60–79 — Generally Healthy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9208857" y="3320951"/>
            <a:ext cx="2119359" cy="915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Sound foundation with identifiable areas for improvement. Targeted recommendations provided.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8426" y="4542234"/>
            <a:ext cx="2538944" cy="161309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36368" y="4713982"/>
            <a:ext cx="2119259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🟠</a:t>
            </a:r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40–59 — Needs Improvement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536368" y="5296595"/>
            <a:ext cx="2119259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Spending patterns require adjustment. AI prioritizes high-impact budget changes.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60916" y="4542234"/>
            <a:ext cx="2539044" cy="161309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208857" y="4713982"/>
            <a:ext cx="2119359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Below 40 — High Attention Required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208857" y="5296595"/>
            <a:ext cx="2119359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Critical financial risk. Immediate, specific action steps generated with urgency.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08794"/>
            <a:ext cx="894732" cy="231874"/>
          </a:xfrm>
          <a:prstGeom prst="roundRect">
            <a:avLst>
              <a:gd name="adj" fmla="val 22131"/>
            </a:avLst>
          </a:prstGeom>
          <a:solidFill>
            <a:srgbClr val="F4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662" y="563662"/>
            <a:ext cx="122135" cy="1221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2816" y="554534"/>
            <a:ext cx="1138011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UX DESIGN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98086" y="794048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spc="-57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Dashboard Design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88154" y="1443633"/>
            <a:ext cx="3532794" cy="4905474"/>
          </a:xfrm>
          <a:prstGeom prst="roundRect">
            <a:avLst>
              <a:gd name="adj" fmla="val 3113"/>
            </a:avLst>
          </a:prstGeom>
          <a:solidFill>
            <a:srgbClr val="D75BE2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40848" y="1577181"/>
            <a:ext cx="322740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Sidebar Navigation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0848" y="1935262"/>
            <a:ext cx="3227406" cy="1331913"/>
          </a:xfrm>
          <a:prstGeom prst="rect">
            <a:avLst/>
          </a:prstGeom>
          <a:noFill/>
          <a:ln/>
        </p:spPr>
        <p:txBody>
          <a:bodyPr wrap="square" lIns="0" tIns="61090" rIns="0" bIns="0" rtlCol="0" anchor="t">
            <a:normAutofit/>
          </a:bodyPr>
          <a:lstStyle/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 branding &amp; assignment info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Educational disclaimer (persistent)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settings &amp; configuration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Cache selection (InMemory / SQLite)</a:t>
            </a:r>
            <a:endParaRPr lang="en-US" sz="1200" dirty="0"/>
          </a:p>
          <a:p>
            <a:pPr algn="l" marL="243840" indent="-243840">
              <a:lnSpc>
                <a:spcPct val="125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Session reset controls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848" y="3455591"/>
            <a:ext cx="3227406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40848" y="3663057"/>
            <a:ext cx="322740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Safety &amp; Compliance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0848" y="4021138"/>
            <a:ext cx="3227406" cy="915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educational disclaimer appears on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every screen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reinforcing that FinWise AI provides informational analysis only, not licensed financial advice. This is a non-negotiable design requirement.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824" y="1577181"/>
            <a:ext cx="711003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Main Interface — Four Functional Zones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9824" y="1952030"/>
            <a:ext cx="2280982" cy="2514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38689" y="2066528"/>
            <a:ext cx="18325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spc="-2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61567" y="2562820"/>
            <a:ext cx="193749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Input Section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61567" y="2920901"/>
            <a:ext cx="1937495" cy="114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Organized form with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columns, expanders, and tabs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grouping income, 10 expense categories, savings, and goals into a clean, scannable layout.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4351" y="1952030"/>
            <a:ext cx="2280982" cy="2514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53216" y="2066528"/>
            <a:ext cx="18325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spc="-2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976094" y="2562820"/>
            <a:ext cx="193749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Financial Overview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976094" y="2920901"/>
            <a:ext cx="1937495" cy="114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metric cards displaying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monthly income, total expenses, remaining balance, and savings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 a glance — before the AI analysis begins.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18878" y="1952030"/>
            <a:ext cx="2280982" cy="2514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67743" y="2066528"/>
            <a:ext cx="18325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spc="-2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90621" y="2562820"/>
            <a:ext cx="193749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 Insights Panel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90621" y="2920901"/>
            <a:ext cx="1937495" cy="1373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Health score progress bar, risk level badge, top priorities list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personalized budget recommendations — all rendered from the LLM JSON response.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9824" y="4600178"/>
            <a:ext cx="7110036" cy="159861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53216" y="4714677"/>
            <a:ext cx="18325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spc="-2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61567" y="5210969"/>
            <a:ext cx="6766549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Action Plan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61567" y="5569049"/>
            <a:ext cx="6766549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Concrete next steps with a month-by-month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savings strategy</a:t>
            </a:r>
            <a:pPr algn="l" indent="0" marL="0">
              <a:lnSpc>
                <a:spcPct val="125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the most actionable output of the entire analysis session.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95102"/>
            <a:ext cx="823892" cy="153392"/>
          </a:xfrm>
          <a:prstGeom prst="roundRect">
            <a:avLst>
              <a:gd name="adj" fmla="val 22104"/>
            </a:avLst>
          </a:prstGeom>
          <a:solidFill>
            <a:srgbClr val="F4D4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608" y="531416"/>
            <a:ext cx="80663" cy="806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9552" y="525363"/>
            <a:ext cx="119148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IMPLEMENTATION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98086" y="671810"/>
            <a:ext cx="10795524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Implementation Roadmap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98086" y="1114227"/>
            <a:ext cx="4722595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Project File Structure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98086" y="1328241"/>
            <a:ext cx="4722595" cy="2138958"/>
          </a:xfrm>
          <a:prstGeom prst="roundRect">
            <a:avLst>
              <a:gd name="adj" fmla="val 1981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819130" y="1429147"/>
            <a:ext cx="4480507" cy="1937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finwise-ai/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              # Main Streamlit entry point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    # Python dependencies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.env.example        # API key template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           # Project documentation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config.py           # Environment &amp; model config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prompts.py          # Prompt templates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financial_calculator.py  # Deterministic metrics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chains.py           # LangChain pipeline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cache_manager.py    # InMemory + SQLite caching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utils.py            # JSON parsing &amp; helpers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98086" y="3557984"/>
            <a:ext cx="4722595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98086" y="3661470"/>
            <a:ext cx="4722595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Development Phases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3875484"/>
            <a:ext cx="504515" cy="6054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0840" y="3976390"/>
            <a:ext cx="4159840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260840" y="4183063"/>
            <a:ext cx="4159840" cy="12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Setup &amp; Config | Financial Calculations</a:t>
            </a:r>
            <a:endParaRPr lang="en-US" sz="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4480917"/>
            <a:ext cx="504515" cy="6054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0840" y="4581823"/>
            <a:ext cx="4159840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260840" y="4788495"/>
            <a:ext cx="4159840" cy="12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LangChain Integration | Prompt Engineering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5086350"/>
            <a:ext cx="504515" cy="60543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0840" y="5187255"/>
            <a:ext cx="4159840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260840" y="5393928"/>
            <a:ext cx="4159840" cy="12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Caching &amp; JSON Parsing | Streamlit UI</a:t>
            </a:r>
            <a:endParaRPr lang="en-US" sz="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5691783"/>
            <a:ext cx="504515" cy="60543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60840" y="5792688"/>
            <a:ext cx="4159840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4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260840" y="5999361"/>
            <a:ext cx="4159840" cy="12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Streaming Integration | Testing &amp; Refinement</a:t>
            </a:r>
            <a:endParaRPr lang="en-US" sz="750" dirty="0"/>
          </a:p>
        </p:txBody>
      </p:sp>
      <p:sp>
        <p:nvSpPr>
          <p:cNvPr id="23" name="Text 16"/>
          <p:cNvSpPr/>
          <p:nvPr/>
        </p:nvSpPr>
        <p:spPr>
          <a:xfrm>
            <a:off x="5673087" y="1114227"/>
            <a:ext cx="5826773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9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Scoring Breakdown — 100 Marks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673087" y="1320899"/>
            <a:ext cx="6436358" cy="12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module is independently scored. Strong execution across all eight areas is required for a high overall mark.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73087" y="1513780"/>
          <a:ext cx="9143771" cy="914400"/>
        </p:xfrm>
        <a:graphic>
          <a:graphicData uri="http://schemas.openxmlformats.org/drawingml/2006/table">
            <a:tbl>
              <a:tblPr/>
              <a:tblGrid>
                <a:gridCol w="2622048"/>
                <a:gridCol w="1165355"/>
                <a:gridCol w="2039371"/>
              </a:tblGrid>
              <a:tr h="213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Component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Marks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Focus Area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6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Prompt Engineering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D75BE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PromptTemplate design quality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6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UI / UX Design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15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Streamlit dashboard polish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6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ChatOpenAI Integration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LLM connection &amp; message handling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6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JSON Output Parsing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Safe parsing &amp; validation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6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Streaming Responses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Live typing effect implementation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6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Caching Strategy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InMemory + SQLite dual cache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6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Financial Calculations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Deterministic metric accuracy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3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Code Quality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6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Structure, readability, standards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0909" marR="10090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6" name="Shape 18"/>
          <p:cNvSpPr/>
          <p:nvPr/>
        </p:nvSpPr>
        <p:spPr>
          <a:xfrm>
            <a:off x="5673087" y="3531493"/>
            <a:ext cx="5826773" cy="409972"/>
          </a:xfrm>
          <a:prstGeom prst="roundRect">
            <a:avLst>
              <a:gd name="adj" fmla="val 10338"/>
            </a:avLst>
          </a:prstGeom>
          <a:solidFill>
            <a:srgbClr val="F4D4F7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990" y="3621881"/>
            <a:ext cx="126104" cy="10090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000997" y="3609181"/>
            <a:ext cx="5397960" cy="25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spc="-16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Prompt Engineering carries the highest weight (20 marks) — invest significant effort in designing precise, well-structured ChatPromptTemplates.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2026-08-28T06:37:08Z</dcterms:created>
  <dcterms:modified xsi:type="dcterms:W3CDTF">2026-08-28T06:37:08Z</dcterms:modified>
</cp:coreProperties>
</file>